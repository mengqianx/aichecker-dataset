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c6f9daa55a4562" /><Relationship Type="http://schemas.openxmlformats.org/officeDocument/2006/relationships/extended-properties" Target="/docProps/app.xml" Id="R34bff25c997f4c42" /><Relationship Type="http://schemas.openxmlformats.org/officeDocument/2006/relationships/officeDocument" Target="/ppt/presentation.xml" Id="Rd43f091cd2cb43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5567c8d1cb4c0e"/>
  </p:sldMasterIdLst>
  <p:notesMasterIdLst>
    <p:notesMasterId xmlns:r="http://schemas.openxmlformats.org/officeDocument/2006/relationships" r:id="R56636afb06d747a2"/>
  </p:notesMasterIdLst>
  <p:sldIdLst>
    <p:sldId xmlns:r="http://schemas.openxmlformats.org/officeDocument/2006/relationships" id="256" r:id="R3b587eb44e8b42d7"/>
    <p:sldId xmlns:r="http://schemas.openxmlformats.org/officeDocument/2006/relationships" id="257" r:id="R15e535b42d174070"/>
    <p:sldId xmlns:r="http://schemas.openxmlformats.org/officeDocument/2006/relationships" id="258" r:id="R905f7155095940da"/>
    <p:sldId xmlns:r="http://schemas.openxmlformats.org/officeDocument/2006/relationships" id="259" r:id="Rfc997f59b6354eb6"/>
    <p:sldId xmlns:r="http://schemas.openxmlformats.org/officeDocument/2006/relationships" id="260" r:id="R821955e716bb4423"/>
    <p:sldId xmlns:r="http://schemas.openxmlformats.org/officeDocument/2006/relationships" id="261" r:id="R64eeadb741924555"/>
    <p:sldId xmlns:r="http://schemas.openxmlformats.org/officeDocument/2006/relationships" id="262" r:id="R4bc4cb3aa1734f3e"/>
    <p:sldId xmlns:r="http://schemas.openxmlformats.org/officeDocument/2006/relationships" id="263" r:id="Re033043d84ae45c7"/>
    <p:sldId xmlns:r="http://schemas.openxmlformats.org/officeDocument/2006/relationships" id="264" r:id="R5b4de527f4b94491"/>
    <p:sldId xmlns:r="http://schemas.openxmlformats.org/officeDocument/2006/relationships" id="265" r:id="Ra7682946277e46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f60370fbd84ac1" /><Relationship Type="http://schemas.openxmlformats.org/officeDocument/2006/relationships/slideMaster" Target="/ppt/slideMasters/slideMaster1.xml" Id="R225567c8d1cb4c0e" /><Relationship Type="http://schemas.openxmlformats.org/officeDocument/2006/relationships/notesMaster" Target="/ppt/notesMasters/notesMaster1.xml" Id="R56636afb06d747a2" /><Relationship Type="http://schemas.openxmlformats.org/officeDocument/2006/relationships/presProps" Target="/ppt/presProps.xml" Id="R976e28d764fa4cc8" /><Relationship Type="http://schemas.openxmlformats.org/officeDocument/2006/relationships/viewProps" Target="/ppt/viewProps.xml" Id="R2a8933f1e8144e31" /><Relationship Type="http://schemas.openxmlformats.org/officeDocument/2006/relationships/tableStyles" Target="/ppt/tableStyles.xml" Id="Rf98c317ffcb14206" /><Relationship Type="http://schemas.openxmlformats.org/officeDocument/2006/relationships/slide" Target="/ppt/slides/slide1.xml" Id="R3b587eb44e8b42d7" /><Relationship Type="http://schemas.openxmlformats.org/officeDocument/2006/relationships/slide" Target="/ppt/slides/slide2.xml" Id="R15e535b42d174070" /><Relationship Type="http://schemas.openxmlformats.org/officeDocument/2006/relationships/slide" Target="/ppt/slides/slide3.xml" Id="R905f7155095940da" /><Relationship Type="http://schemas.openxmlformats.org/officeDocument/2006/relationships/slide" Target="/ppt/slides/slide4.xml" Id="Rfc997f59b6354eb6" /><Relationship Type="http://schemas.openxmlformats.org/officeDocument/2006/relationships/slide" Target="/ppt/slides/slide5.xml" Id="R821955e716bb4423" /><Relationship Type="http://schemas.openxmlformats.org/officeDocument/2006/relationships/slide" Target="/ppt/slides/slide6.xml" Id="R64eeadb741924555" /><Relationship Type="http://schemas.openxmlformats.org/officeDocument/2006/relationships/slide" Target="/ppt/slides/slide7.xml" Id="R4bc4cb3aa1734f3e" /><Relationship Type="http://schemas.openxmlformats.org/officeDocument/2006/relationships/slide" Target="/ppt/slides/slide8.xml" Id="Re033043d84ae45c7" /><Relationship Type="http://schemas.openxmlformats.org/officeDocument/2006/relationships/slide" Target="/ppt/slides/slide9.xml" Id="R5b4de527f4b94491" /><Relationship Type="http://schemas.openxmlformats.org/officeDocument/2006/relationships/slide" Target="/ppt/slides/slide10.xml" Id="Ra7682946277e46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9b573416d440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a150dc667644dd" /><Relationship Type="http://schemas.openxmlformats.org/officeDocument/2006/relationships/notesMaster" Target="/ppt/notesMasters/notesMaster1.xml" Id="Rb738daf34c104d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477e01497a44bc" /><Relationship Type="http://schemas.openxmlformats.org/officeDocument/2006/relationships/notesMaster" Target="/ppt/notesMasters/notesMaster1.xml" Id="R96dc2033c57748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09deb361f74756" /><Relationship Type="http://schemas.openxmlformats.org/officeDocument/2006/relationships/notesMaster" Target="/ppt/notesMasters/notesMaster1.xml" Id="R3fa6e535c82d46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85227df0dd49c1" /><Relationship Type="http://schemas.openxmlformats.org/officeDocument/2006/relationships/notesMaster" Target="/ppt/notesMasters/notesMaster1.xml" Id="Ree3db3eeced94f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fa0d6387cf47aa" /><Relationship Type="http://schemas.openxmlformats.org/officeDocument/2006/relationships/notesMaster" Target="/ppt/notesMasters/notesMaster1.xml" Id="R87819139799543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411301c1d24346" /><Relationship Type="http://schemas.openxmlformats.org/officeDocument/2006/relationships/notesMaster" Target="/ppt/notesMasters/notesMaster1.xml" Id="R1908e2b3933d48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73d20446f848a2" /><Relationship Type="http://schemas.openxmlformats.org/officeDocument/2006/relationships/notesMaster" Target="/ppt/notesMasters/notesMaster1.xml" Id="R0f3a941390a243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3cf1ca437b4e93" /><Relationship Type="http://schemas.openxmlformats.org/officeDocument/2006/relationships/notesMaster" Target="/ppt/notesMasters/notesMaster1.xml" Id="R0042fbdaff624f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3208479d11442c" /><Relationship Type="http://schemas.openxmlformats.org/officeDocument/2006/relationships/notesMaster" Target="/ppt/notesMasters/notesMaster1.xml" Id="Rb00a1221f04243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51374c8dc34180" /><Relationship Type="http://schemas.openxmlformats.org/officeDocument/2006/relationships/notesMaster" Target="/ppt/notesMasters/notesMaster1.xml" Id="Rf33b265139534b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cc24d7edf4d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bb821be4d94006" /><Relationship Type="http://schemas.openxmlformats.org/officeDocument/2006/relationships/slideLayout" Target="/ppt/slideLayouts/slideLayout1.xml" Id="R469782a48c8c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9782a48c8c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5dc6901f54216" /><Relationship Type="http://schemas.openxmlformats.org/officeDocument/2006/relationships/notesSlide" Target="/ppt/notesSlides/notesSlide1.xml" Id="R13827115450147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6dcb28fbc4b69" /><Relationship Type="http://schemas.openxmlformats.org/officeDocument/2006/relationships/notesSlide" Target="/ppt/notesSlides/notesSlide2.xml" Id="R1871b37a70d646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27decdec946af" /><Relationship Type="http://schemas.openxmlformats.org/officeDocument/2006/relationships/notesSlide" Target="/ppt/notesSlides/notesSlide3.xml" Id="R732250536eb849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ac8797fed41df" /><Relationship Type="http://schemas.openxmlformats.org/officeDocument/2006/relationships/notesSlide" Target="/ppt/notesSlides/notesSlide4.xml" Id="Re4de9b58102245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7221c13f442eb" /><Relationship Type="http://schemas.openxmlformats.org/officeDocument/2006/relationships/notesSlide" Target="/ppt/notesSlides/notesSlide5.xml" Id="Rdf60bd357f2c40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dd84013bb4bc7" /><Relationship Type="http://schemas.openxmlformats.org/officeDocument/2006/relationships/notesSlide" Target="/ppt/notesSlides/notesSlide6.xml" Id="R7384129f4b1046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ded87ddeb44e3" /><Relationship Type="http://schemas.openxmlformats.org/officeDocument/2006/relationships/notesSlide" Target="/ppt/notesSlides/notesSlide7.xml" Id="Rb55297cb07444d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aa15c549a442e" /><Relationship Type="http://schemas.openxmlformats.org/officeDocument/2006/relationships/notesSlide" Target="/ppt/notesSlides/notesSlide8.xml" Id="Rb1fb01b40c0e4b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0e4b7271d45f4" /><Relationship Type="http://schemas.openxmlformats.org/officeDocument/2006/relationships/notesSlide" Target="/ppt/notesSlides/notesSlide9.xml" Id="R68eeaf7fd26242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f2344da5c46b3" /><Relationship Type="http://schemas.openxmlformats.org/officeDocument/2006/relationships/notesSlide" Target="/ppt/notesSlides/notesSlide10.xml" Id="R2808e0a91b8c40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46E2FF-0B3F-42F7-905B-5A54FEDC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 时序类异常检测能力进展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29CAF-B262-4A64-B1A1-CF70ACE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无响应、黑白屏、页面加载失败与长时间加载检测方案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CF7CE-2722-45C5-BDE9-56FE81F8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5AF3A-72AF-4B8B-A90E-94884A64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汇报时间：2026.06</a:t>
            </a:r>
          </a:p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输入场景：视频输入下的单操作 GUI 异常检测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5DCC7-595D-4F89-B134-2B85D602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83588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682FA5-DB5C-462E-8ABD-35E809CE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本阶段目标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1F07B-6DD7-4626-94DF-D965413D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围绕单操作视频，补齐 Agent 对 loading 类时序异常的检测能力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B9B57-F81A-4041-9CB4-B86E1DF8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58EC7-6FA1-45E1-B701-491D8AE4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1">
                <a:latin typeface="Arial"/>
                <a:ea typeface="Arial"/>
                <a:cs typeface="Arial"/>
              </a:defRPr>
            </a:pPr>
            <a:r>
              <a:rPr sz="1350" b="1">
                <a:latin typeface="Arial"/>
                <a:ea typeface="Arial"/>
                <a:cs typeface="Arial"/>
              </a:rPr>
              <a:t>检测项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9DB11-AA6D-4698-A417-ADB7E1CC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1">
                <a:latin typeface="Arial"/>
                <a:ea typeface="Arial"/>
                <a:cs typeface="Arial"/>
              </a:defRPr>
            </a:pPr>
            <a:r>
              <a:rPr sz="1350" b="1">
                <a:latin typeface="Arial"/>
                <a:ea typeface="Arial"/>
                <a:cs typeface="Arial"/>
              </a:rPr>
              <a:t>检测目标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6549E-2CD5-40B3-A5C7-E3059266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无响应判定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4FBAB-65C5-48C8-B370-3575BC5F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操作后页面或控件没有有效反馈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EE24E-4ACA-4638-8DCA-30CB5460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点击后黑白屏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DB82C-D9F8-449C-8C97-6B1837E8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4800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响应后进入持续黑屏或白屏状态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5042D-87D3-4597-B175-E6747F16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页面加载失败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45625-4628-4022-932B-742BF6CD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出现失败提示、网络异常、请求失败或重试弹窗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E0480-1FAE-4B50-87DA-1A149B30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页面长时间加载中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A85E0-3388-4FFE-BE59-48C5D925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长期停留在 loading / spinner / 骨架屏状态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93153-4911-4132-B499-BFDB5964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09313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F4E146-66FE-4F60-AB3F-72FDE50E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整体方案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0306E-EAB4-4395-8559-214B7367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视觉状态类问题优先用 CV，语义提示类问题交给 VLM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BC7C4-3FDA-4D28-8DE2-7BE8B163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A6695-5365-478B-A48A-C56B18E2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输入视频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0A7B0-69F7-4349-BC05-DF1F6B5A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812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FB442-B4D3-4649-AF0B-116C370E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28875"/>
            <a:ext cx="619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感知层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抽帧、帧间变化、亮度统计、候选帧筛选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FDA6F-0AD2-4AE1-9A03-5D3F89A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17858-9304-4A0E-9619-73C650CB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476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Loading 状态检测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无响应 / 黑白屏 / 长时间加载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8CEB7-C71E-4998-89A0-48EA6A0B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476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失败提示检测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加载失败 / 网络异常 / 请求失败 / 重试提示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5598B-5AC3-4A05-A500-114C55E6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D9B58-D3DC-4231-ADBE-532FC9B3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结构化输出：异常类型、判定依据、关键证据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2490B-6CA6-4934-A1DD-A7987369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64975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2D97F7-0A53-400B-8B5D-834C6873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无响应与长时间加载：基于帧间变化判断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EF366-6224-4DC1-8A70-F6D27B83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这两类问题主要体现为页面变化不足或长期只有小幅规律变化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A1C25-9BC2-4515-BC3D-A9234564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9082F-F72B-445D-9AF8-AEF490EF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无响应判定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1BCBB-0161-43C7-B328-D2E59BF3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85D96-E214-440B-BC42-054D9493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765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计算相邻帧变化比例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47E78-4BC5-49E1-9962-BB7C68DD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94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7CAD9-F3DA-4635-9AF7-A30A3B05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若整体变化长期很低，则认为操作后缺少有效反馈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39722-19BC-46FB-BEAA-3DF85892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82751-491E-4101-9B09-FBC7DCFA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433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输出变化均值、最大值和判定依据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C0B3B-6E65-485B-9494-FC0437D3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192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长时间加载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B8273-62F5-45F4-BA9D-955018E4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860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DED65-C150-43B9-8F0F-373F34F3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765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识别长期小幅、稳定、规律的变化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19B58-66E0-45CD-B396-21E5F0B2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194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61A0D-A8C1-49FF-941E-17C4361C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99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结合视频持续时间，避免短时正常 loading 误报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BFA37-B7E1-449F-9FFD-8B717F55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528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95D29-8A84-4835-A140-9586E5E0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433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适用于 spinner、骨架屏、进度动画等场景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8E662-C627-4768-A58E-A8192847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74918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33B00D-52B8-400A-B4F4-E94274AB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点击后黑白屏：基于末尾窗口判断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57F3D-8486-4A68-94E7-363D4E8D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避免把单帧转场、切换瞬间或截图时机问题误判为异常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3F4E6-AA2A-4A85-B4B4-50C8F850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297B7-32FE-4C58-B4D3-94BB42A2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240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A4ACD-50D1-459E-A8D8-31E24377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145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重点检查视频末尾窗口，而不是只看最后一帧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0F8AF-3716-458B-A068-697CD804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ADEEB-17AC-4A0F-B5C3-A8623A78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622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统计末尾多帧的黑色/白色像素比例和亮度稳定性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8C059-7E78-43EC-A631-27A1C2DA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194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39831-9EA7-4BD7-A3AC-6C55FF14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99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只有连续多帧接近纯黑或纯白，才判定为黑屏/白屏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DCCF5-0225-4D73-8ABD-554EB984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判定核心：最终状态持续异常，而不是某一帧偶然异常。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E990E-7014-4577-8D9B-26EB9F44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79731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3EBBBE-2386-4BB0-8042-7E50DF14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页面加载失败：独立语义检测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47B59-5C3B-4CFB-AA9F-0C6A9434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失败提示和弹窗属于语义问题，单纯依赖像素变化不稳定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ECB34-C8EB-4D1E-8283-BEC9DE42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E5079-E79A-4701-9FCF-400C0686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EDA57-DC8D-48EE-8A3E-9591CE5B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43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候选帧选择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388ED-C5DE-43B8-8E95-7A15F764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从首帧、中间帧、尾部窗口和高变化帧中选候选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D09A6-C64A-4405-84F5-DCAB22E0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EBECA-F7C9-45BD-B862-BECD3E5C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431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CV 预筛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CE41C-330F-4C5E-A76D-8E4D4268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86075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优先保留更可能出现提示或弹窗的帧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CB6A9-767A-4E46-AEE9-87B99A2C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F3CBA-614A-48D7-B79F-6369B034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433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VLM 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0690A-E63B-4FF7-AB6A-3FC35D87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结合候选帧及前后帧识别失败语义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613A0-4DB0-4785-ADE1-FDE54D6B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F2D71-B882-4B8C-9D2F-DFFC72B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4342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结构化输出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E5A09-9FD5-4248-A88E-19CEE671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86325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输出失败类型、证据文案和置信度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8E083-AC20-4F9D-92A1-83BDD22F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04426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7404C7-9AB7-40BF-9DDC-AD74CF96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当前实现状态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72477-FD53-4659-A0FB-952A08B9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已形成 loading 类时序异常的基础检测链路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FD86F-4691-499F-B977-15191818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70CFC-C588-4DA1-A413-D82D7C8E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287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75B47-C099-4DB1-8CAD-D14A400D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6192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已实现视频抽帧、帧间变化计算和阶段性证据输出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971A1-04B7-42B3-ADC8-2F6EE539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002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9C755-4EC3-4436-84DA-833BD043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90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已实现无响应、黑白屏、长时间加载检测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F17BB-0D39-48A5-99C6-5D582BDF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717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662B7-C4E7-48A1-8B90-499BFAA5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622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已实现页面加载失败独立检测器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837A2-536E-4E56-8F73-2E29DB39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432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6F4CB-F209-48A9-84E7-452CF9C8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33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已支持结构化输出异常类型、判定依据和关键证据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53988-E2E5-4DF9-B37E-7FE8F371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147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39C81-1AD1-4C33-8644-89094547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052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已完成基础单元测试验证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8ED61-2CBB-44D8-9A6D-951611E8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69843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AA5B43-B9F8-4A35-A738-05D14022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方案特点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7549A-EF44-4C7A-B7DB-76AEA556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将可解释性、准确性和推理成本放在同一套检测框架中考虑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EFFCF-B1F5-4C96-8180-BA327285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06375-D076-44AC-9512-F1B384D3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1">
                <a:latin typeface="Arial"/>
                <a:ea typeface="Arial"/>
                <a:cs typeface="Arial"/>
              </a:defRPr>
            </a:pPr>
            <a:r>
              <a:rPr sz="1350" b="1">
                <a:latin typeface="Arial"/>
                <a:ea typeface="Arial"/>
                <a:cs typeface="Arial"/>
              </a:rPr>
              <a:t>特点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7BEE3-AEC2-460E-901B-B076B9C6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714500"/>
            <a:ext cx="685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1">
                <a:latin typeface="Arial"/>
                <a:ea typeface="Arial"/>
                <a:cs typeface="Arial"/>
              </a:defRPr>
            </a:pPr>
            <a:r>
              <a:rPr sz="1350" b="1">
                <a:latin typeface="Arial"/>
                <a:ea typeface="Arial"/>
                <a:cs typeface="Arial"/>
              </a:rPr>
              <a:t>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5AFE7-2591-4E14-8F36-ACFBAD2B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384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CV 优先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77C42-E577-420D-942A-89873FD2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38400"/>
            <a:ext cx="685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视觉状态类异常不默认调用 VLM，降低耗时和 token 消耗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12278-BA6C-4DE8-921C-9312A7DF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623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VLM 补充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89627-F61A-413F-8A00-C9369CB1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162300"/>
            <a:ext cx="685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失败提示、弹窗等语义型问题由 VLM 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54A0E-CF3B-4E78-BC01-2DC3BE77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862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职责拆分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E97EF-1422-4743-AC41-2BC0BF8E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86200"/>
            <a:ext cx="685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Loading 状态检测和失败提示检测分开实现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5BAB9-0BFE-45C0-9072-66789A2E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01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结构化报告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A3AF0-2B89-4B7A-A8EB-29FEA25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10100"/>
            <a:ext cx="685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1430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输出异常类型、证据指标、候选帧和模型响应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73031-47B7-40D9-8AEB-FFE2CEDB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08596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149004-F30C-4D13-8576-B55B22C2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需要甲方确认的问题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A7D45-F696-4A9D-B77D-33725E94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这些信息会影响阈值设置、候选帧数量和 VLM 调用策略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BF14D-2452-46B7-B5E4-DED72D9E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FE1B1-EFE0-49F4-A372-911447BE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287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560B1-5F2C-475D-B71D-632D53AF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19250"/>
            <a:ext cx="933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输入视频是否默认只包含一个关键操作场景？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FDAA8-A773-4A12-81AB-2150D8B7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C99EF-6328-4210-8FDB-9ED21A69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38375"/>
            <a:ext cx="933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长时间加载的时间阈值应设置为多少秒？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B8F0A-275A-469C-872B-C9A85215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95EA9-3502-425D-9C69-AB6850A2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933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页面加载失败是否有内部业务文案词表？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7A0B6-B39C-4BAC-A240-75113589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E87CD-C8D7-49C2-9133-726D325B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76625"/>
            <a:ext cx="933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是否可以提供真实正负样本视频？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CD025-A74F-4078-8C45-4661DC98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9F01E-88C6-4D79-9FF1-13E82304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933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单次检测的耗时上限和 token 上限是多少？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EA490-4ED7-4636-9E77-E313AAB1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995440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AC52CD-6375-4079-B686-4CCB11C3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下一步计划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3CC29-62D3-46F1-9078-8F13567B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进入真实样本评测和参数校准阶段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9120D-970F-4C53-BB53-F8784A68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B5A2A-3E72-493C-BB30-841E5281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287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B79EB-7DC3-4578-A107-241025A7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192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构建 loading 类真实视频测试集，覆盖四类异常场景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3DC09-F0D0-412F-B32B-B039C663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8FA6C-455A-4972-86EE-B0E1E5C5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098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统计每类检测项的通过率、Precision、Recall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6DCF4-9309-4341-97A9-216A4CEA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69D33-2A1F-4961-80A7-A727986B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记录单视频耗时、VLM 调用次数和 token 消耗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E31CE-6103-49CA-B698-927FCE53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94CC4-516B-4AD4-B5C4-73B04A87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优化候选帧筛选策略，并根据真实数据调整检测阈值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485CB-0BFA-4E01-A76B-B6BC04C0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阶段性总结：当前方案通过 CV 优先、VLM 补充的方式，在保证可解释性的同时控制推理成本。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9500F-8427-4753-8265-62381A3C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504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2026-06-12T05:10:08.4800000Z</dcterms:created>
  <dcterms:modified xsi:type="dcterms:W3CDTF">2026-06-12T05:10:08.4800000Z</dcterms:modified>
</coreProperties>
</file>