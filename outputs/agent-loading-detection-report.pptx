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59955024224019" /><Relationship Type="http://schemas.openxmlformats.org/officeDocument/2006/relationships/extended-properties" Target="/docProps/app.xml" Id="Rc81071f4db55440c" /><Relationship Type="http://schemas.openxmlformats.org/officeDocument/2006/relationships/officeDocument" Target="/ppt/presentation.xml" Id="R0e8849319f20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79afb7b23a4740"/>
  </p:sldMasterIdLst>
  <p:notesMasterIdLst>
    <p:notesMasterId xmlns:r="http://schemas.openxmlformats.org/officeDocument/2006/relationships" r:id="R968a711970ad4c95"/>
  </p:notesMasterIdLst>
  <p:sldIdLst>
    <p:sldId xmlns:r="http://schemas.openxmlformats.org/officeDocument/2006/relationships" id="256" r:id="R13ff82ce17be45a0"/>
    <p:sldId xmlns:r="http://schemas.openxmlformats.org/officeDocument/2006/relationships" id="257" r:id="Rd1489f4edf664fe9"/>
    <p:sldId xmlns:r="http://schemas.openxmlformats.org/officeDocument/2006/relationships" id="258" r:id="R706a3f52a8654ccd"/>
    <p:sldId xmlns:r="http://schemas.openxmlformats.org/officeDocument/2006/relationships" id="259" r:id="Rc8a36e29ac264027"/>
    <p:sldId xmlns:r="http://schemas.openxmlformats.org/officeDocument/2006/relationships" id="260" r:id="R30d9adb2cd0a49b7"/>
    <p:sldId xmlns:r="http://schemas.openxmlformats.org/officeDocument/2006/relationships" id="261" r:id="Ref4c3bbef3a3444c"/>
    <p:sldId xmlns:r="http://schemas.openxmlformats.org/officeDocument/2006/relationships" id="262" r:id="R322d05de82be4fbf"/>
    <p:sldId xmlns:r="http://schemas.openxmlformats.org/officeDocument/2006/relationships" id="263" r:id="R8dd1254334494a72"/>
    <p:sldId xmlns:r="http://schemas.openxmlformats.org/officeDocument/2006/relationships" id="264" r:id="R88afc07bcc68416a"/>
    <p:sldId xmlns:r="http://schemas.openxmlformats.org/officeDocument/2006/relationships" id="265" r:id="Rf944551b87624189"/>
    <p:sldId xmlns:r="http://schemas.openxmlformats.org/officeDocument/2006/relationships" id="266" r:id="Rada5a7d366734604"/>
    <p:sldId xmlns:r="http://schemas.openxmlformats.org/officeDocument/2006/relationships" id="267" r:id="Rdc412424aa2d415b"/>
    <p:sldId xmlns:r="http://schemas.openxmlformats.org/officeDocument/2006/relationships" id="268" r:id="R9358dc8bf5de4565"/>
    <p:sldId xmlns:r="http://schemas.openxmlformats.org/officeDocument/2006/relationships" id="269" r:id="Rf33b8959836f45bd"/>
    <p:sldId xmlns:r="http://schemas.openxmlformats.org/officeDocument/2006/relationships" id="270" r:id="Rbe514b56154c426b"/>
    <p:sldId xmlns:r="http://schemas.openxmlformats.org/officeDocument/2006/relationships" id="271" r:id="R6de2cb2070ce4762"/>
    <p:sldId xmlns:r="http://schemas.openxmlformats.org/officeDocument/2006/relationships" id="272" r:id="Rb0564d3770d84f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3528169a764246" /><Relationship Type="http://schemas.openxmlformats.org/officeDocument/2006/relationships/slideMaster" Target="/ppt/slideMasters/slideMaster1.xml" Id="R5a79afb7b23a4740" /><Relationship Type="http://schemas.openxmlformats.org/officeDocument/2006/relationships/notesMaster" Target="/ppt/notesMasters/notesMaster1.xml" Id="R968a711970ad4c95" /><Relationship Type="http://schemas.openxmlformats.org/officeDocument/2006/relationships/presProps" Target="/ppt/presProps.xml" Id="R45f4596c5d0d44e4" /><Relationship Type="http://schemas.openxmlformats.org/officeDocument/2006/relationships/viewProps" Target="/ppt/viewProps.xml" Id="Rd1e0714704a24290" /><Relationship Type="http://schemas.openxmlformats.org/officeDocument/2006/relationships/tableStyles" Target="/ppt/tableStyles.xml" Id="R479b63a4f5764569" /><Relationship Type="http://schemas.openxmlformats.org/officeDocument/2006/relationships/slide" Target="/ppt/slides/slide1.xml" Id="R13ff82ce17be45a0" /><Relationship Type="http://schemas.openxmlformats.org/officeDocument/2006/relationships/slide" Target="/ppt/slides/slide2.xml" Id="Rd1489f4edf664fe9" /><Relationship Type="http://schemas.openxmlformats.org/officeDocument/2006/relationships/slide" Target="/ppt/slides/slide3.xml" Id="R706a3f52a8654ccd" /><Relationship Type="http://schemas.openxmlformats.org/officeDocument/2006/relationships/slide" Target="/ppt/slides/slide4.xml" Id="Rc8a36e29ac264027" /><Relationship Type="http://schemas.openxmlformats.org/officeDocument/2006/relationships/slide" Target="/ppt/slides/slide5.xml" Id="R30d9adb2cd0a49b7" /><Relationship Type="http://schemas.openxmlformats.org/officeDocument/2006/relationships/slide" Target="/ppt/slides/slide6.xml" Id="Ref4c3bbef3a3444c" /><Relationship Type="http://schemas.openxmlformats.org/officeDocument/2006/relationships/slide" Target="/ppt/slides/slide7.xml" Id="R322d05de82be4fbf" /><Relationship Type="http://schemas.openxmlformats.org/officeDocument/2006/relationships/slide" Target="/ppt/slides/slide8.xml" Id="R8dd1254334494a72" /><Relationship Type="http://schemas.openxmlformats.org/officeDocument/2006/relationships/slide" Target="/ppt/slides/slide9.xml" Id="R88afc07bcc68416a" /><Relationship Type="http://schemas.openxmlformats.org/officeDocument/2006/relationships/slide" Target="/ppt/slides/slide10.xml" Id="Rf944551b87624189" /><Relationship Type="http://schemas.openxmlformats.org/officeDocument/2006/relationships/slide" Target="/ppt/slides/slide11.xml" Id="Rada5a7d366734604" /><Relationship Type="http://schemas.openxmlformats.org/officeDocument/2006/relationships/slide" Target="/ppt/slides/slide12.xml" Id="Rdc412424aa2d415b" /><Relationship Type="http://schemas.openxmlformats.org/officeDocument/2006/relationships/slide" Target="/ppt/slides/slide13.xml" Id="R9358dc8bf5de4565" /><Relationship Type="http://schemas.openxmlformats.org/officeDocument/2006/relationships/slide" Target="/ppt/slides/slide14.xml" Id="Rf33b8959836f45bd" /><Relationship Type="http://schemas.openxmlformats.org/officeDocument/2006/relationships/slide" Target="/ppt/slides/slide15.xml" Id="Rbe514b56154c426b" /><Relationship Type="http://schemas.openxmlformats.org/officeDocument/2006/relationships/slide" Target="/ppt/slides/slide16.xml" Id="R6de2cb2070ce4762" /><Relationship Type="http://schemas.openxmlformats.org/officeDocument/2006/relationships/slide" Target="/ppt/slides/slide17.xml" Id="Rb0564d3770d84f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c361ec851e48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8dc24a9894103" /><Relationship Type="http://schemas.openxmlformats.org/officeDocument/2006/relationships/notesMaster" Target="/ppt/notesMasters/notesMaster1.xml" Id="R1ab8f4dd908e4a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cb1b9f50e0481a" /><Relationship Type="http://schemas.openxmlformats.org/officeDocument/2006/relationships/notesMaster" Target="/ppt/notesMasters/notesMaster1.xml" Id="Ref635985977e4d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8894e1e9104ab0" /><Relationship Type="http://schemas.openxmlformats.org/officeDocument/2006/relationships/notesMaster" Target="/ppt/notesMasters/notesMaster1.xml" Id="R6a8fc4faf78549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d239fee96e462e" /><Relationship Type="http://schemas.openxmlformats.org/officeDocument/2006/relationships/notesMaster" Target="/ppt/notesMasters/notesMaster1.xml" Id="R314263545db34f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c38c040c3d499a" /><Relationship Type="http://schemas.openxmlformats.org/officeDocument/2006/relationships/notesMaster" Target="/ppt/notesMasters/notesMaster1.xml" Id="R1283d88069c246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af910b7e6d4cf0" /><Relationship Type="http://schemas.openxmlformats.org/officeDocument/2006/relationships/notesMaster" Target="/ppt/notesMasters/notesMaster1.xml" Id="R57173a09de034b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29edc501d5471c" /><Relationship Type="http://schemas.openxmlformats.org/officeDocument/2006/relationships/notesMaster" Target="/ppt/notesMasters/notesMaster1.xml" Id="Re554d5a37ca44b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c626914bbc4b51" /><Relationship Type="http://schemas.openxmlformats.org/officeDocument/2006/relationships/notesMaster" Target="/ppt/notesMasters/notesMaster1.xml" Id="R875753a16f0b41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f9414662944ea0" /><Relationship Type="http://schemas.openxmlformats.org/officeDocument/2006/relationships/notesMaster" Target="/ppt/notesMasters/notesMaster1.xml" Id="R441e6762f7ea45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274d56da224873" /><Relationship Type="http://schemas.openxmlformats.org/officeDocument/2006/relationships/notesMaster" Target="/ppt/notesMasters/notesMaster1.xml" Id="R1e1420142f4641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09845827c74d78" /><Relationship Type="http://schemas.openxmlformats.org/officeDocument/2006/relationships/notesMaster" Target="/ppt/notesMasters/notesMaster1.xml" Id="R2a14139eee904d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a4be702bc944a5" /><Relationship Type="http://schemas.openxmlformats.org/officeDocument/2006/relationships/notesMaster" Target="/ppt/notesMasters/notesMaster1.xml" Id="Rea4dac513caa4e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0514abfc1a4a24" /><Relationship Type="http://schemas.openxmlformats.org/officeDocument/2006/relationships/notesMaster" Target="/ppt/notesMasters/notesMaster1.xml" Id="R82c819d2a8094f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852ef693114ff8" /><Relationship Type="http://schemas.openxmlformats.org/officeDocument/2006/relationships/notesMaster" Target="/ppt/notesMasters/notesMaster1.xml" Id="R261aa908c5eb41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20c99b756a46fe" /><Relationship Type="http://schemas.openxmlformats.org/officeDocument/2006/relationships/notesMaster" Target="/ppt/notesMasters/notesMaster1.xml" Id="R35bbd03abb8b48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c78d46a4084ac0" /><Relationship Type="http://schemas.openxmlformats.org/officeDocument/2006/relationships/notesMaster" Target="/ppt/notesMasters/notesMaster1.xml" Id="R9bf51095a5054c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97c9197f934918" /><Relationship Type="http://schemas.openxmlformats.org/officeDocument/2006/relationships/notesMaster" Target="/ppt/notesMasters/notesMaster1.xml" Id="Ra056e2a2ce35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a84e98c7c4e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a50d9ca34b4d6f" /><Relationship Type="http://schemas.openxmlformats.org/officeDocument/2006/relationships/slideLayout" Target="/ppt/slideLayouts/slideLayout1.xml" Id="Ra2ea0420dd00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a0420dd00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4c19099c449d1" /><Relationship Type="http://schemas.openxmlformats.org/officeDocument/2006/relationships/notesSlide" Target="/ppt/notesSlides/notesSlide1.xml" Id="R294dfd34513f41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11982d36145ab" /><Relationship Type="http://schemas.openxmlformats.org/officeDocument/2006/relationships/notesSlide" Target="/ppt/notesSlides/notesSlide2.xml" Id="Rccfb5268003547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11504c9814f3e" /><Relationship Type="http://schemas.openxmlformats.org/officeDocument/2006/relationships/notesSlide" Target="/ppt/notesSlides/notesSlide3.xml" Id="Rcd46d97e0a8d44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4618cd77d450d" /><Relationship Type="http://schemas.openxmlformats.org/officeDocument/2006/relationships/notesSlide" Target="/ppt/notesSlides/notesSlide4.xml" Id="R630ce9b9a0be42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f2be8b5d14729" /><Relationship Type="http://schemas.openxmlformats.org/officeDocument/2006/relationships/notesSlide" Target="/ppt/notesSlides/notesSlide5.xml" Id="Rd2ed050d7e504a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fbdeb9f7844a2" /><Relationship Type="http://schemas.openxmlformats.org/officeDocument/2006/relationships/notesSlide" Target="/ppt/notesSlides/notesSlide6.xml" Id="Rb56b5e77c0b84d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3c08834124206" /><Relationship Type="http://schemas.openxmlformats.org/officeDocument/2006/relationships/notesSlide" Target="/ppt/notesSlides/notesSlide7.xml" Id="R1f481c9be17244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b776f5e174ae4" /><Relationship Type="http://schemas.openxmlformats.org/officeDocument/2006/relationships/notesSlide" Target="/ppt/notesSlides/notesSlide8.xml" Id="R47156e14a9b04b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bf565c7f9489f" /><Relationship Type="http://schemas.openxmlformats.org/officeDocument/2006/relationships/notesSlide" Target="/ppt/notesSlides/notesSlide9.xml" Id="R64126e02f99f4b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d7141db5a4ac9" /><Relationship Type="http://schemas.openxmlformats.org/officeDocument/2006/relationships/notesSlide" Target="/ppt/notesSlides/notesSlide10.xml" Id="R55beb6c0565048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ace3fb48a45d8" /><Relationship Type="http://schemas.openxmlformats.org/officeDocument/2006/relationships/notesSlide" Target="/ppt/notesSlides/notesSlide11.xml" Id="R1fd695ec38774a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f79e154114ba6" /><Relationship Type="http://schemas.openxmlformats.org/officeDocument/2006/relationships/notesSlide" Target="/ppt/notesSlides/notesSlide12.xml" Id="R2e6d2c5d7cd74e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5a57d29334653" /><Relationship Type="http://schemas.openxmlformats.org/officeDocument/2006/relationships/notesSlide" Target="/ppt/notesSlides/notesSlide13.xml" Id="Ra3184a33797b42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405f3b1374060" /><Relationship Type="http://schemas.openxmlformats.org/officeDocument/2006/relationships/notesSlide" Target="/ppt/notesSlides/notesSlide14.xml" Id="R34e25f6d11ec46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31ea989e24c71" /><Relationship Type="http://schemas.openxmlformats.org/officeDocument/2006/relationships/notesSlide" Target="/ppt/notesSlides/notesSlide15.xml" Id="Rea2e452f73fb40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f62b25bcf44c5" /><Relationship Type="http://schemas.openxmlformats.org/officeDocument/2006/relationships/notesSlide" Target="/ppt/notesSlides/notesSlide16.xml" Id="Rc71946c6c5a64a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bc657e7964966" /><Relationship Type="http://schemas.openxmlformats.org/officeDocument/2006/relationships/notesSlide" Target="/ppt/notesSlides/notesSlide17.xml" Id="R1acc0158f09c46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F3DCAD-C4A2-485C-A046-76C54F81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 时序类异常检测能力进展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21D18-5F11-413D-9072-22807D4C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面向无响应、黑白屏、加载失败与长时间加载场景的检测方案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D94C6-BDD5-479E-97EA-3E8D4EA5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1668B-BC06-4959-9AD3-67AF257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汇报时间：2026.06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汇报主题：视频输入下单操作场景的 Agent 异常检测能力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235C8-36C0-4B05-9B3A-DECFB5CD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03717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74039-128A-439A-870B-083F052C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本阶段工作目标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CA9F1-DD74-4438-88A6-21733CEF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围绕视频输入下的单操作场景，设计并实现 Agent 时序类异常检测能力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A19C1-9B6E-44BF-83C3-84E3F4CE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43229-BFDE-457F-BD05-32B96306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检测项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BC97C-8DEA-4E10-B5D8-08CB4FEF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检测目标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600BE-E4E7-4AB8-86FF-1A23DC14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>
                <a:latin typeface="Arial"/>
                <a:ea typeface="Arial"/>
                <a:cs typeface="Arial"/>
              </a:defRPr>
            </a:pPr>
            <a:r>
              <a:rPr sz="1425">
                <a:latin typeface="Arial"/>
                <a:ea typeface="Arial"/>
                <a:cs typeface="Arial"/>
              </a:rPr>
              <a:t>无响应判定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BE7BD-5541-44B8-8FF0-4626AB85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>
                <a:latin typeface="Arial"/>
                <a:ea typeface="Arial"/>
                <a:cs typeface="Arial"/>
              </a:defRPr>
            </a:pPr>
            <a:r>
              <a:rPr sz="1425">
                <a:latin typeface="Arial"/>
                <a:ea typeface="Arial"/>
                <a:cs typeface="Arial"/>
              </a:rPr>
              <a:t>控件或页面操作后是否发生无响应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453CC-0DDB-49D3-AE7D-296DCF1C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>
                <a:latin typeface="Arial"/>
                <a:ea typeface="Arial"/>
                <a:cs typeface="Arial"/>
              </a:defRPr>
            </a:pPr>
            <a:r>
              <a:rPr sz="1425">
                <a:latin typeface="Arial"/>
                <a:ea typeface="Arial"/>
                <a:cs typeface="Arial"/>
              </a:rPr>
              <a:t>点击后出现黑白屏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46E17-9477-48D4-8DC4-9FA74CED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>
                <a:latin typeface="Arial"/>
                <a:ea typeface="Arial"/>
                <a:cs typeface="Arial"/>
              </a:defRPr>
            </a:pPr>
            <a:r>
              <a:rPr sz="1425">
                <a:latin typeface="Arial"/>
                <a:ea typeface="Arial"/>
                <a:cs typeface="Arial"/>
              </a:rPr>
              <a:t>控件响应后是否进入黑屏或白屏状态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0D050-A4B6-46DF-A020-48C21878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>
                <a:latin typeface="Arial"/>
                <a:ea typeface="Arial"/>
                <a:cs typeface="Arial"/>
              </a:defRPr>
            </a:pPr>
            <a:r>
              <a:rPr sz="1425">
                <a:latin typeface="Arial"/>
                <a:ea typeface="Arial"/>
                <a:cs typeface="Arial"/>
              </a:rPr>
              <a:t>页面加载失败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C3B7F-97EC-4484-897F-6CAF4EDD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5760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>
                <a:latin typeface="Arial"/>
                <a:ea typeface="Arial"/>
                <a:cs typeface="Arial"/>
              </a:defRPr>
            </a:pPr>
            <a:r>
              <a:rPr sz="1425">
                <a:latin typeface="Arial"/>
                <a:ea typeface="Arial"/>
                <a:cs typeface="Arial"/>
              </a:rPr>
              <a:t>控件响应后是否出现加载失败相关提示或弹窗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44B8D-1388-42B7-89C2-C71E01C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>
                <a:latin typeface="Arial"/>
                <a:ea typeface="Arial"/>
                <a:cs typeface="Arial"/>
              </a:defRPr>
            </a:pPr>
            <a:r>
              <a:rPr sz="1425">
                <a:latin typeface="Arial"/>
                <a:ea typeface="Arial"/>
                <a:cs typeface="Arial"/>
              </a:rPr>
              <a:t>页面长时间加载中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0C70B-B5DD-4216-AF7F-89026F71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>
                <a:latin typeface="Arial"/>
                <a:ea typeface="Arial"/>
                <a:cs typeface="Arial"/>
              </a:defRPr>
            </a:pPr>
            <a:r>
              <a:rPr sz="1425">
                <a:latin typeface="Arial"/>
                <a:ea typeface="Arial"/>
                <a:cs typeface="Arial"/>
              </a:rPr>
              <a:t>控件响应后是否长期停留在加载状态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F93F2-AEB4-4CBB-8603-909DB125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22882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1DC4A0-3F11-4A59-9DD0-C2BE3A70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输入与基本假设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B38E8-74F7-48B2-8992-5631913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当前输入形式是一段操作视频，系统自主分析页面状态变化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04666-56BE-4620-AE79-8B82A0F9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4E89E-2C57-402C-9053-7640C555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CADCD-3F7F-4512-ABCC-366954C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62125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一个视频主要对应一个关键操作场景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2EF34-E6E3-4AAD-BC6D-85A0F033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DA094-6EFA-488E-B424-B4631CCC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14575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视频中包含操作前、操作响应过程和最终状态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94043-F084-4EDE-828E-7522A028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6F073-E9C8-4B82-A052-4AA35F9D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67025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系统不依赖人工标注具体点击发生在哪一帧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465D2-BD72-4FCA-BA04-181D6AE5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556D9-C30C-4F3C-BB2D-ADF9A3A7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通过抽帧序列自主分析页面状态变化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01B93-EB03-4458-AD26-7779A1F4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后续如果输入协议明确提供操作时间点或关键帧，可以进一步提升检测精度。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A9145-1C05-4A14-A328-0C4D0693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11147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C3A055-3146-43D1-83B1-0EDAAF5E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整体技术路线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4A50F-2349-4612-A783-E4925A51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CV 负责低成本证据提取，VLM 负责语义型失败提示识别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E58BE-4CA7-4701-82FD-AAECA24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10DFE-DCCB-4D53-BF89-BE3A0CF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输入视频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677CD-73FC-4A6B-90BE-BF994550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138CF-7979-477B-A29E-9B9BAA50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666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感知层</a:t>
            </a:r>
          </a:p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视频抽帧 / 帧间变化 / 亮度统计 / 候选帧筛选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0AAB8-D1EA-478D-8CFC-B81DD731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4D116-77E5-4698-9579-96F7BF64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检测层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04106-91A7-413B-B112-B655CFF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Loading 状态检测</a:t>
            </a:r>
          </a:p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无响应 / 黑白屏 / 长时间加载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3FE11-24A2-4EAB-A465-7C8B51CD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失败提示检测</a:t>
            </a:r>
          </a:p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加载失败 / 网络异常 / 请求失败 / 重试提示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D7E13-AEAE-4D8E-8D60-7B1DC0A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578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32170-E5FC-479D-8E47-060A6BA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15000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决策层</a:t>
            </a:r>
          </a:p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输出异常类型、判定依据和关键证据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C7274-8910-469E-A73D-DCDA640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08180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249C9-EF3B-4537-9AAD-67AD1ACC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检测项一：无响应判定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882FA-6755-461D-B71C-9761F4FF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判断控件或页面操作后是否没有产生有效反馈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F14E-31B1-468A-B1B9-924FADA5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C0B03-C3F8-4B5E-906D-4523B243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287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4C9DF-7431-48A4-872E-BC4FA4C0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523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对视频按固定间隔抽帧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AF7A8-C5EE-40B8-8EC0-6BDD9FE0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3570F-179C-46A1-BCF0-065F5021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523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计算相邻帧之间的像素变化比例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0AA5E-A3D6-45C1-BAAA-8425E23D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B47EE-21DE-4001-B2E0-E8425D3C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523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统计变化均值、最大值和标准差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CEE63-CD88-4246-8987-DBB89CD6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09786-A1BC-4207-8BD4-41616361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23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如果页面长时间几乎没有变化，则判定为疑似无响应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20FB9-23D3-424D-A625-6A9D5A48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输出证据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593CE-F3D2-48E0-8875-135151AE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907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D36E6-B634-49B6-9A58-334522B2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812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帧间变化比例序列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F1710-5FB9-4221-BB27-52843BA7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194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D9F5D-F81C-4870-A62B-58B02C9C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09875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平均变化率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2CA23-1086-4941-A78B-CFA6FCBA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480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F031D-497A-4B99-B670-99784897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3850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最大变化率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BDAB0-B231-43B8-B002-5BE5826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766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8B392-E3E3-4363-8FD1-A945F87B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静止判定阈值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BE619-27C4-4B33-9AAD-2869D0A8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05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244CF-A8CC-402C-9BFA-7AB82E47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95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判定原因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03079-9E69-4B01-81EC-717B20EE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28005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C57A3-F95D-4D82-B79D-86B9D7B7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无响应判定示意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99C14-27D4-4640-8F5E-55B44329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该检测项主要依赖 CV 信号，不需要默认调用 VLM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ECB6-CCD1-46C2-8036-CD098285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897B4-875C-4083-85AE-3618F2A9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frame_0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9CC80-5B13-4D10-8F06-F6186E5C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frame_1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97194-D70E-4A5C-AC8E-4DAB5D0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050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frame_2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2BC7E-3A47-4E71-A798-29D89AB3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frame_n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C140A-20A5-4A54-AB5B-E90E0A6A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7141E-FEAC-40ED-9150-F3753F69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DB38E-A8C2-4384-ABBC-BAAF4B9E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5740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→  ... 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A1D32-05A2-4F7A-8FF9-18981259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037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diff_0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FF4BE-D234-4E7C-BF72-3BB0387A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diff_1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D3F0F-D2EF-4D8F-99F8-BE9D4AE1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diff_n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2244D-BE6B-4604-A341-C8392548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390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如果 mean(diff) 很低，且 max(diff) 很低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31AF5-29D1-4138-A54D-38B0E76E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146F1-C208-44D0-8392-93A2DB68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操作后页面长期没有明显视觉反馈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判定为疑似无响应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CF8CB-CE72-475D-BE68-4D1F3D24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17201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0DB5B6-C25E-432C-B597-20F63201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检测项二：点击后黑白屏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82D55-5CAB-4AD5-94A8-EC435486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判断控件响应后，页面是否进入异常黑屏或白屏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34C04-2C1E-4C07-BC73-26CB3A19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17E62-8D82-4F35-BC40-A5C75CC0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58966-29D7-4BF6-9032-959379C4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66875"/>
            <a:ext cx="952500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重点检查视频末尾窗口，而不是只看最后一帧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EF2CC-D72F-4C7A-B1A1-8EDA4DD6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C012B-89A1-4725-A59D-E4778389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952500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对末尾多帧计算黑色像素比例、白色像素比例和亮度标准差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8B53B-3459-478C-B34C-716AFCF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9D0F5-F232-41CE-B728-A2B05A22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952500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要求连续多帧接近纯黑或纯白，才判定为黑屏或白屏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4AC9B-5841-4BD6-86B8-7473EE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610EB-5689-4F6A-951E-25079B66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52500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避免将单帧转场、视频切换瞬间或截图时机问题误判为黑白屏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182C0-4803-4D64-B91D-BCD5E356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40331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5B6FF4-3FD0-45F8-A850-4E891D8D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黑白屏检测证据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C01AE-A83C-4D77-B9C0-FF8CFF26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基于末尾窗口的亮度分布和连续命中情况进行判定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B44FB-CD93-4124-BC4A-A1AB109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F20EA-3FA1-4414-AF6D-D3F3EC72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143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Arial"/>
                <a:ea typeface="Arial"/>
                <a:cs typeface="Arial"/>
              </a:defRPr>
            </a:pPr>
            <a:r>
              <a:rPr sz="1350" b="1">
                <a:latin typeface="Arial"/>
                <a:ea typeface="Arial"/>
                <a:cs typeface="Arial"/>
              </a:rPr>
              <a:t>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CC226-8D8A-44AC-BD73-FE7A23D7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438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Arial"/>
                <a:ea typeface="Arial"/>
                <a:cs typeface="Arial"/>
              </a:defRPr>
            </a:pPr>
            <a:r>
              <a:rPr sz="1350" b="1">
                <a:latin typeface="Arial"/>
                <a:ea typeface="Arial"/>
                <a:cs typeface="Arial"/>
              </a:rPr>
              <a:t>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FAE1E-4D14-44D3-94C1-D8C27225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143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black_ratio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24F12-64AE-4CF3-BAB7-5C802560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47875"/>
            <a:ext cx="438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近黑像素占比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636F4-C9FB-4AA2-8311-CDE815D0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143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white_ratio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F2803-D841-4909-9CB3-00B5A52F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438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近白像素占比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31578-F553-49C6-BEE0-3994B5FB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143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std_luma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09AD9-7B4F-4F15-9BE5-0AC7478D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438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亮度标准差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D4007-31BE-44E5-9982-8D1DCAF1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3143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terminal_run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7DB2D-C9E7-48E1-A953-1ADD605F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438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末尾连续命中帧数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286DF-15FF-4885-A895-325ED70F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143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window_ratio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43721-2094-4160-9B51-2D088720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43375"/>
            <a:ext cx="438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末尾窗口内命中比例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7B00F-5A1C-4CFF-87FC-38104AC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判定逻辑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末尾窗口中连续多帧满足：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black_ratio 高且 std_luma 低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或 white_ratio 高且 std_luma 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 判定为黑屏 / 白屏异常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E8B82-C943-4B60-806D-545578E6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02305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06E87-AFAF-496A-9EBF-6BA0A07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检测项三：页面加载失败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BD030-589F-4CD8-AE58-ABC4279C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判断控件响应后是否出现加载失败相关提示或弹窗信息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8A4A8-3FCB-49E8-ACA3-748EB8F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ADA31-E226-41B9-B7C0-62F34A6D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这类问题本质上是语义检测，不适合只依赖像素变化。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9EBA2-CE30-4195-88E9-614C7859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CFA8B-60A3-4E7E-B09C-C94A265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67000"/>
            <a:ext cx="904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从抽帧序列中选择候选帧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9047C-2A9B-44EC-B551-45211A9A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B79DA-ACBE-44C5-82B0-8EE72D90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90875"/>
            <a:ext cx="904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 CV 变化分数筛选更可能出现提示或弹窗的帧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3CB15-6905-4EB3-BDB8-65183958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8494A-B205-4ED7-8925-4B4A8D92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904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对候选帧及其前后帧调用 VLM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2BA63-1D6C-4F60-AD49-19CC4857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D0790-2ACD-4A00-8449-C6ED2D01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38625"/>
            <a:ext cx="904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判断是否存在加载失败、网络异常、请求失败、超时、重试等语义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F4DE5-A887-49EA-A282-0E5552C3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28695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7F983-EAF6-4183-8237-835A2BBB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页面加载失败检测流程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C24DD-3430-42D2-9B1A-EAE6C2DE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通过候选帧预筛减少 VLM 调用次数，控制 token 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44245-F2AC-4E7C-9C16-64129F2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EE3E5-DDA5-4223-A8C1-123196A2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抽帧序列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输入视频按固定间隔抽帧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DB947-D221-4614-844B-1CD202A9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3835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6396E-6A51-4D18-8191-9D2B8C73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431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候选帧选择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尾部窗口 / 首帧 / 中间帧 / 高变化帧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6DD8E-AB15-4A2C-832F-08A34C68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5275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6B4EB-196C-4FC5-BA42-F4A84B27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CV 预筛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前后帧变化 / 相对初始帧变化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C12B8-9D2D-4016-9C07-8C6C0CA8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6715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23E56-56B3-4661-B513-E3D92C9A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 语义判断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候选前帧 / 候选帧 / 候选后帧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D765C-CFAD-41E9-9FF2-B0380444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2AD82-2F45-46CD-9F8D-C13B3C92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863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结构化输出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是否失败 / 失败类型 / 证据文案 / 置信度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010D1-DEAF-48F1-93AA-AB459000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01952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0239F-3F36-4B4F-A4FE-22E89B3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检测项四：页面长时间加载中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A6A46-6882-40D5-8766-FEA3A1B4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判断页面是否长期停留在 loading 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A5236-9F05-48BA-9408-E0795036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D874D-6AE1-487D-B1C4-77CC7998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326D0-9F52-449C-8EA1-65AD72FB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71625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计算帧间变化比例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CD797-6431-4653-AB24-74E74E81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61A3A-64E4-4713-978E-04F6CCC6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判断变化是否长期保持小幅、稳定、规律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CB402-3AAE-4C50-A95A-664A7F2F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C1944-8955-4212-B965-A02026D6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62225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结合视频持续时间，避免短视频中的正常 loading 被误报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FE8C8-3D84-44FD-A6CB-200EF94E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B768C-9D3F-42D7-A7B9-8BC893D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57525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若页面长期只有加载指示器或骨架屏变化，而没有进入完成态，则判定为疑似长时间加载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6A033-1DA9-46B8-A50E-8B4EAC75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典型表现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20A96-F4AB-487B-A12D-2A64CECE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转圈动画持续存在 / 进度反馈长期没有完成 / 页面内容长期不进入结果态 / 骨架屏持续闪烁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228FB-1D6C-4B66-88A4-EEC09777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26451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44034-5B43-44A1-9B8E-7CDCECEE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长时间加载检测证据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0D8F3-A61C-44FD-AE81-5F964F9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结合变化稳定性和检测窗口时长进行判断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5F7AD-72FF-495C-9908-13849FF8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6C8AC-4715-4F65-8F94-5DF4B7FA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23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Arial"/>
                <a:ea typeface="Arial"/>
                <a:cs typeface="Arial"/>
              </a:defRPr>
            </a:pPr>
            <a:r>
              <a:rPr sz="1350" b="1">
                <a:latin typeface="Arial"/>
                <a:ea typeface="Arial"/>
                <a:cs typeface="Arial"/>
              </a:rPr>
              <a:t>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3C8F8-B464-400A-BDE4-BF9F6BBF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Arial"/>
                <a:ea typeface="Arial"/>
                <a:cs typeface="Arial"/>
              </a:defRPr>
            </a:pPr>
            <a:r>
              <a:rPr sz="1350" b="1">
                <a:latin typeface="Arial"/>
                <a:ea typeface="Arial"/>
                <a:cs typeface="Arial"/>
              </a:rPr>
              <a:t>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B942F-7A34-4F7F-818C-90553F7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23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mean_change_ratio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5521F-D0A6-4E2B-A289-607852E0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47875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平均帧间变化率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91BE8-FFFC-49EC-B7C1-C8534C2C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23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std_change_ratio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8EE1A-083E-4304-BD6A-CB8B8ECD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变化率标准差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CBF12-6675-401E-99CB-BC781B15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23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max_change_ratio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E04E6-D9AF-486E-9A54-40772FDC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最大帧间变化率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9DF09-A1F4-47DD-9B90-9FC17831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323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duration_sec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FBA6F-2281-48E1-91A9-0DB04A05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视频检测窗口时长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AC88A-8397-4842-AD08-0CB87F48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23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min_duration_sec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9EB93-22E6-4F56-9CDC-BAD75B9F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43375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275">
                <a:latin typeface="Arial"/>
                <a:ea typeface="Arial"/>
                <a:cs typeface="Arial"/>
              </a:defRPr>
            </a:pPr>
            <a:r>
              <a:rPr sz="1275">
                <a:latin typeface="Arial"/>
                <a:ea typeface="Arial"/>
                <a:cs typeface="Arial"/>
              </a:rPr>
              <a:t>判定长时间加载的最小时长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EE990-A862-4EB2-9EB9-3B64883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667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判定逻辑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帧间变化长期较小</a:t>
            </a:r>
          </a:p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变化波动稳定</a:t>
            </a:r>
          </a:p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视频时长超过最小时长阈值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 判定为疑似长时间加载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009E7-548C-452F-96A7-DA15F0E6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589692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656B8E-DC92-436A-A4BD-3466EBB9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当前实现状态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79137-390A-4AA0-A13C-6B835E1C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已形成 loading 类时序异常的基础检测链路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DAD25-B52F-48F0-8419-9839A7F7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6AB24-0912-4A36-B718-658C5DA0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335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40A00-56DC-450E-B885-9901E738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24000"/>
            <a:ext cx="581025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视频抽帧与帧间变化计算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001D6-1A40-49B3-9A16-6026966E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3C3C2-11FD-453D-9B8E-EC9418AA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581025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无响应检测逻辑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54A22-5C13-4C77-8F65-F0F266C5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7C1C1-4F8F-4626-BA5B-57C5D781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581025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末尾窗口黑白屏检测逻辑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E093E-9FBD-43D2-99B6-F29612DE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1404C-0101-4DAD-954D-A2ABBCD0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581025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长时间加载检测逻辑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1E9FC-2BC0-4223-B8D1-B04C12B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BF222-5C8F-4A68-ABF0-9FCB4796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581025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页面加载失败独立检测器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4E51B-7DB7-4683-B6C8-B3BD7CF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B11E6-077B-4C4F-8029-ED690D2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581025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CV 候选帧预筛 + VLM 失败语义检测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4B87C-335C-4075-8B8B-9E30FD80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4173F-F314-4E18-BF38-859137C2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581025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结构化输出异常类型、判定依据和关键证据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6651E-AEFB-45A4-9A80-6A6EBBD0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653A2-5E7E-4389-852E-34BE9584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581025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基础单元测试验证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84291-A3B4-4077-8F36-6DD05CA8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当前输出可区分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BAFCE9-9E2C-4F3E-BC20-4DF4FCE7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907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EBACD-2384-4440-9C93-BFE635AF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no_response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6BC55-50F3-47EB-8C47-8B7D9BB8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2AC40-D26B-46B1-81D7-2FBF041D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987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black_screen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B7C66-C2FC-4F3D-982B-16F980F5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480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C6FC5-957A-4A3D-99CE-AF4E42C2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white_screen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C9D8E-2E56-40E7-B990-54669B2B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930902-E47B-4635-AF42-B2AC0C91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6712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long_loading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8DEAE4-37C3-48EB-95BF-6552A806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05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072584-481F-40DC-81C7-04413AB4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load_failed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CE17ED-49BA-406D-8EE2-384C25C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52006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E53F1D-58F0-405A-865A-4A4F87A9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当前方案特点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E3CE7-CA9D-41E6-8B64-26BDE976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不是纯 VLM 端到端判断，而是结合 CV 和 VLM 的分层检测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6D34C-3E96-4C87-9A15-E16E2C30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453AE-DC62-4952-95C3-17864589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287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94AE-E6E5-45CC-AEB6-EE93D8EE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1925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视觉状态类问题通过 CV 判断，成本低、速度快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32AA0-DF41-4412-9348-2B59458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F39CB-9528-4297-935C-3299ACF8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62175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语义提示类问题通过 VLM 判断，适合识别失败文案和弹窗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09C22-034C-43A7-AFDF-DA1AFD47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5FB28-741C-47B0-815E-251C86E5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每类检测项有独立证据，便于解释和调试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D723B-89E7-4AE7-A148-A2BA88B6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79939-602E-48EE-AC54-FB69FED5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48025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可以输出结构化报告，支持后续统计准确率、召回率和 token 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1E8E0-49F5-4229-B836-784A8468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6C7D1-D9F0-45E9-8A43-8BA062CC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适配当前单视频单操作场景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EEC89-F17C-4851-9A54-77665F9D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169963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6A443-9355-4A64-ABA7-975D898D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Agent 框架的关系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ED112-713D-447F-80BC-1CAB346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本阶段主要补齐 loading 类时序异常的检测能力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14028-9535-4FFD-8B68-182878B8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09B65-A0BE-41E4-A96E-9BD239BD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感知层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1E051-97C1-43CE-BE47-86120BAB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视频抽帧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ROI / 关键区域提取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CV 证据计算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59386-1036-4635-8EC5-8B07E3D9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908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715BC-64F2-477C-99F5-CF4DF394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推理层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D15B5-ECC5-4385-8092-7AF416C7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 状态抽象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失败提示语义识别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1808A-0636-4DFF-AC64-20EFA960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57755-4091-476C-978E-15C03C99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决策层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B1B79-4D7B-41F2-BA27-862AB7F8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规则判定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异常类型融合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测试报告输出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7B0F3-B608-4DA0-8832-6299C9BF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625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 框架中的时序异常检测模块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84D8B-7CC1-421B-8EBA-8872FEEA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9522938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6D900-8C04-4C81-8797-D2F227CB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需要甲方确认的问题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CFEEE-C12A-4439-9E37-1C3D9BB2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这些信息会直接影响检测阈值、候选帧数量和 VLM 调用策略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068C6-7DEE-4F1B-863F-441F91FF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42DEA-9FC2-4A6E-9EEA-2D64C8DC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0F352-E225-4722-82E7-0E0C3536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71625"/>
            <a:ext cx="962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输入视频是否可以默认认为只包含一个关键操作场景？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2943A-B1CC-41FF-BD07-EED3350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1AFFA-C347-4DF0-9222-B02DC60D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05025"/>
            <a:ext cx="962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长时间加载的时间阈值应设置为多少秒？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82815-FF61-4A45-A01F-498F9875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0CB87-EEEF-4189-9B39-0194736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38425"/>
            <a:ext cx="962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页面加载失败的业务文案范围是否有内部词表？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3F892-7EC0-486D-ACA8-C421A59A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E5159-A9A7-456D-BC55-29F52039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71825"/>
            <a:ext cx="962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是否可以提供真实正负样本视频？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CE156-F933-4817-88A2-5499BF46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FE544-51FA-48B9-B665-0775AAA5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05225"/>
            <a:ext cx="962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单次检测的耗时上限是多少？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8BA4F-8E2D-48D3-BE71-C0CAF9B5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5EA55-E229-43B6-9C95-EAE6351A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962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单次检测的 token 上限是多少？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30DE0-0AE1-4E30-8B7C-E8778D6B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0161260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3DA4B0-F2AF-421C-BE94-EB0EF95F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下一步计划与阶段性总结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AD055-EB6A-42A8-BB0F-BB2EB2C3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下一阶段重点进入真实样本评测和参数校准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896E2-6F3C-47B6-94D9-2B842D1B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37BDE-674B-462D-93D2-86DB59B5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1466A-69D7-4E5B-9345-BA44DEC5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构建 loading 类真实视频测试集，覆盖四类异常场景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188E1-21C0-4966-896B-2C653A9F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BBB72-0714-478B-B86B-44AC1595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统计每类检测项的通过率、Precision、Recall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C7A36-602D-484F-8742-C995A15A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679AA-B7B8-4D4C-B8B7-AC1AA93A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28875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记录单视频耗时、VLM 调用次数和 token 消耗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0176C-F69D-4AE3-A3C1-1B304D3F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66C89-22A6-4C57-8063-50E0610F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05125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优化候选帧筛选策略，并根据真实数据调整检测阈值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18C67-3142-413B-8FE8-4CC3022A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94075-60ED-47B1-9563-6E9CD0EA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81375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对比纯 VLM 判断与 CV-first + VLM 判断的准确率和成本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19622-1149-40CC-8005-DAAFDD52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981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阶段性总结：当前方案将视觉状态类异常与语义提示类异常拆分检测，通过 CV 优先、VLM 补充的方式，在保证可解释性的同时控制推理成本。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6A9B1-BB21-429B-9B27-615A7777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22690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2026-06-12T01:52:52.4600000Z</dcterms:created>
  <dcterms:modified xsi:type="dcterms:W3CDTF">2026-06-12T01:52:52.4600000Z</dcterms:modified>
</coreProperties>
</file>